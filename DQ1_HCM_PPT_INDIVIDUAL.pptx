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62" r:id="rId15"/>
    <p:sldId id="26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A7B7F-5571-4B36-9AA2-4E93F885BAEC}" v="1" dt="2026-09-17T14:54:56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9" Type="http://schemas.openxmlformats.org/officeDocument/2006/relationships/tableStyles" Target="tableStyles.xml"/>  <Relationship Id="rId12" Type="http://schemas.openxmlformats.org/officeDocument/2006/relationships/slide" Target="slides/slide4.xml"/>
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rnam Jaiswal" userId="91502feab0c53866" providerId="LiveId" clId="{C432B960-16E3-46E9-8EB2-84C05EF244D3}"/>
    <pc:docChg chg="modSld">
      <pc:chgData name="Poornam Jaiswal" userId="91502feab0c53866" providerId="LiveId" clId="{C432B960-16E3-46E9-8EB2-84C05EF244D3}" dt="2026-09-17T14:55:00.487" v="2"/>
      <pc:docMkLst>
        <pc:docMk/>
      </pc:docMkLst>
      <pc:sldChg chg="addSp delSp modSp mod">
        <pc:chgData name="Poornam Jaiswal" userId="91502feab0c53866" providerId="LiveId" clId="{C432B960-16E3-46E9-8EB2-84C05EF244D3}" dt="2026-09-17T14:55:00.487" v="2"/>
        <pc:sldMkLst>
          <pc:docMk/>
          <pc:sldMk cId="0" sldId="256"/>
        </pc:sldMkLst>
        <pc:spChg chg="add del mod">
          <ac:chgData name="Poornam Jaiswal" userId="91502feab0c53866" providerId="LiveId" clId="{C432B960-16E3-46E9-8EB2-84C05EF244D3}" dt="2026-09-17T14:55:00.487" v="2"/>
          <ac:spMkLst>
            <pc:docMk/>
            <pc:sldMk cId="0" sldId="256"/>
            <ac:spMk id="8" creationId="{C967BC73-7093-F8E4-8B4A-8753D220226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5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argument: Meridian has capability, but capability is not always matched by decision authority. This is my individual DQ-1: business diagnosis and human capital priorities, using case paragraphs P001-P018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deck around the professor's six questions: KNOW-APPLY-DEFEND, the case diagnosis, the 20-session build to AS-2/3/4, the investigation plan, the work product and verification test, and team documentation with the mentor.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85292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INDIVIDUAL DQ-1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307238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DQ-1: Business Diagnosis &amp; Human Capital Priorities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2920" y="35844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A9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Forward: From Capability to Decision Authority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02920" y="39319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Poornam Jaiswal   |   PGDM 2026–28   |   Human Capital Management</a:t>
            </a:r>
            <a:endParaRPr lang="en-US" sz="1200" b="1" dirty="0"/>
          </a:p>
        </p:txBody>
      </p:sp>
      <p:sp>
        <p:nvSpPr>
          <p:cNvPr id="7" name="Text 4"/>
          <p:cNvSpPr/>
          <p:nvPr/>
        </p:nvSpPr>
        <p:spPr>
          <a:xfrm>
            <a:off x="502920" y="4169664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Institute of International Business (FIIB)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2848" y="274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DQ-1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086600" y="274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4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HCM Asks Managers to KNOW, APPLY &amp; DEFEND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31" name="Card 31"/>
          <p:cNvSpPr/>
          <p:nvPr/>
        </p:nvSpPr>
        <p:spPr>
          <a:xfrm>
            <a:off x="502920" y="1371600"/>
            <a:ext cx="2560320" cy="24231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2" name="Shape 32"/>
          <p:cNvSpPr txBox="1"/>
          <p:nvPr/>
        </p:nvSpPr>
        <p:spPr>
          <a:xfrm>
            <a:off x="649224" y="142646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173"/>
                </a:solidFill>
                <a:latin typeface="Cambria"/>
                <a:ea typeface="Cambria"/>
                <a:cs typeface="Cambria"/>
              </a:rPr>
              <a:t>KNOW</a:t>
            </a:r>
          </a:p>
        </p:txBody>
      </p:sp>
      <p:sp>
        <p:nvSpPr>
          <p:cNvPr id="33" name="Label 33"/>
          <p:cNvSpPr txBox="1"/>
          <p:nvPr/>
        </p:nvSpPr>
        <p:spPr>
          <a:xfrm>
            <a:off x="649224" y="176479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649224" y="2029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Organisational context &amp; structure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Human capital priorities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Work &amp; workforce requirements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Capability, performance &amp; contribution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Employment relationships</a:t>
            </a:r>
          </a:p>
        </p:txBody>
      </p:sp>
      <p:sp>
        <p:nvSpPr>
          <p:cNvPr id="35" name="Arrow 35"/>
          <p:cNvSpPr/>
          <p:nvPr/>
        </p:nvSpPr>
        <p:spPr>
          <a:xfrm>
            <a:off x="3086100" y="2487168"/>
            <a:ext cx="182880" cy="182880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6" name="Card 36"/>
          <p:cNvSpPr/>
          <p:nvPr/>
        </p:nvSpPr>
        <p:spPr>
          <a:xfrm>
            <a:off x="3291840" y="1371600"/>
            <a:ext cx="2560320" cy="24231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37" name="Shape 37"/>
          <p:cNvSpPr txBox="1"/>
          <p:nvPr/>
        </p:nvSpPr>
        <p:spPr>
          <a:xfrm>
            <a:off x="3438144" y="142646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173"/>
                </a:solidFill>
                <a:latin typeface="Cambria"/>
                <a:ea typeface="Cambria"/>
                <a:cs typeface="Cambria"/>
              </a:rPr>
              <a:t>APPLY</a:t>
            </a:r>
          </a:p>
        </p:txBody>
      </p:sp>
      <p:sp>
        <p:nvSpPr>
          <p:cNvPr id="38" name="Label 38"/>
          <p:cNvSpPr txBox="1"/>
          <p:nvPr/>
        </p:nvSpPr>
        <p:spPr>
          <a:xfrm>
            <a:off x="3438144" y="176479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USE CONCEPTS + EVIDENCE TO</a:t>
            </a:r>
          </a:p>
        </p:txBody>
      </p:sp>
      <p:sp>
        <p:nvSpPr>
          <p:cNvPr id="39" name="Shape 39"/>
          <p:cNvSpPr txBox="1"/>
          <p:nvPr/>
        </p:nvSpPr>
        <p:spPr>
          <a:xfrm>
            <a:off x="3438144" y="2029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Diagnose the business challenge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Analyse work &amp; workforce needs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Compare alternatives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Develop an evidence-based response</a:t>
            </a:r>
          </a:p>
        </p:txBody>
      </p:sp>
      <p:sp>
        <p:nvSpPr>
          <p:cNvPr id="40" name="Arrow 40"/>
          <p:cNvSpPr/>
          <p:nvPr/>
        </p:nvSpPr>
        <p:spPr>
          <a:xfrm>
            <a:off x="5875020" y="2487168"/>
            <a:ext cx="182880" cy="182880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41" name="Card 41"/>
          <p:cNvSpPr/>
          <p:nvPr/>
        </p:nvSpPr>
        <p:spPr>
          <a:xfrm>
            <a:off x="6080760" y="1371600"/>
            <a:ext cx="2560320" cy="24231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42" name="Shape 42"/>
          <p:cNvSpPr txBox="1"/>
          <p:nvPr/>
        </p:nvSpPr>
        <p:spPr>
          <a:xfrm>
            <a:off x="6227064" y="142646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173"/>
                </a:solidFill>
                <a:latin typeface="Cambria"/>
                <a:ea typeface="Cambria"/>
                <a:cs typeface="Cambria"/>
              </a:rPr>
              <a:t>DEFEND</a:t>
            </a:r>
          </a:p>
        </p:txBody>
      </p:sp>
      <p:sp>
        <p:nvSpPr>
          <p:cNvPr id="43" name="Label 43"/>
          <p:cNvSpPr txBox="1"/>
          <p:nvPr/>
        </p:nvSpPr>
        <p:spPr>
          <a:xfrm>
            <a:off x="6227064" y="176479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BE ABLE TO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6227064" y="2029968"/>
            <a:ext cx="228600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Explain assumptions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Compare competing explanations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Justify decisions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Respond to questioning &amp; feedback</a:t>
            </a:r>
          </a:p>
          <a:p>
            <a:pPr marL="171450" indent="-171450" algn="l">
              <a:spcAft>
                <a:spcPts val="400"/>
              </a:spcAft>
              <a:buClr>
                <a:srgbClr val="A9740A"/>
              </a:buClr>
              <a:buSzPct val="100000"/>
              <a:buChar char="▪"/>
            </a:pPr>
            <a:r>
              <a:rPr lang="en-US" sz="120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Revise the response when evidence changes</a:t>
            </a:r>
          </a:p>
        </p:txBody>
      </p:sp>
      <p:sp>
        <p:nvSpPr>
          <p:cNvPr id="45" name="Banner 45"/>
          <p:cNvSpPr/>
          <p:nvPr/>
        </p:nvSpPr>
        <p:spPr>
          <a:xfrm>
            <a:off x="502920" y="3886200"/>
            <a:ext cx="8138160" cy="530352"/>
          </a:xfrm>
          <a:prstGeom prst="roundRect">
            <a:avLst>
              <a:gd name="adj" fmla="val 9524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164592" tIns="27432" rIns="164592" bIns="27432" rtlCol="0" anchor="ctr"/>
          <a:lstStyle/>
          <a:p>
            <a:pPr marL="0" indent="0" algn="l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HCM moves from KNOWING concepts → APPLYING them to evidence → DEFENDING managerial judgement.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2848" y="274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DQ-1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086600" y="274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4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Forward: Business Mandate → Conflicting Claims → HCM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46" name="Chip 46"/>
          <p:cNvSpPr/>
          <p:nvPr/>
        </p:nvSpPr>
        <p:spPr>
          <a:xfrm>
            <a:off x="502920" y="1335024"/>
            <a:ext cx="1783080" cy="3657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Business Mandate</a:t>
            </a:r>
          </a:p>
        </p:txBody>
      </p:sp>
      <p:sp>
        <p:nvSpPr>
          <p:cNvPr id="47" name="Arrow 47"/>
          <p:cNvSpPr/>
          <p:nvPr/>
        </p:nvSpPr>
        <p:spPr>
          <a:xfrm>
            <a:off x="2331720" y="1435608"/>
            <a:ext cx="201168" cy="164592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48" name="Chip 48"/>
          <p:cNvSpPr/>
          <p:nvPr/>
        </p:nvSpPr>
        <p:spPr>
          <a:xfrm>
            <a:off x="2624328" y="1335024"/>
            <a:ext cx="1783080" cy="3657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Ownership Ambiguity</a:t>
            </a:r>
          </a:p>
        </p:txBody>
      </p:sp>
      <p:sp>
        <p:nvSpPr>
          <p:cNvPr id="49" name="Arrow 49"/>
          <p:cNvSpPr/>
          <p:nvPr/>
        </p:nvSpPr>
        <p:spPr>
          <a:xfrm>
            <a:off x="4453128" y="1435608"/>
            <a:ext cx="201168" cy="164592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50" name="Chip 50"/>
          <p:cNvSpPr/>
          <p:nvPr/>
        </p:nvSpPr>
        <p:spPr>
          <a:xfrm>
            <a:off x="4745736" y="1335024"/>
            <a:ext cx="1783080" cy="3657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Decision-Authority Tension</a:t>
            </a:r>
          </a:p>
        </p:txBody>
      </p:sp>
      <p:sp>
        <p:nvSpPr>
          <p:cNvPr id="51" name="Arrow 51"/>
          <p:cNvSpPr/>
          <p:nvPr/>
        </p:nvSpPr>
        <p:spPr>
          <a:xfrm>
            <a:off x="6574536" y="1435608"/>
            <a:ext cx="201168" cy="164592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52" name="Chip 52"/>
          <p:cNvSpPr/>
          <p:nvPr/>
        </p:nvSpPr>
        <p:spPr>
          <a:xfrm>
            <a:off x="6867144" y="1335024"/>
            <a:ext cx="1783080" cy="365760"/>
          </a:xfrm>
          <a:prstGeom prst="roundRect">
            <a:avLst>
              <a:gd name="adj" fmla="val 12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Emerging HCM Problem</a:t>
            </a:r>
          </a:p>
        </p:txBody>
      </p:sp>
      <p:sp>
        <p:nvSpPr>
          <p:cNvPr id="53" name="Mandate 53"/>
          <p:cNvSpPr/>
          <p:nvPr/>
        </p:nvSpPr>
        <p:spPr>
          <a:xfrm>
            <a:off x="502920" y="1755648"/>
            <a:ext cx="8138160" cy="512064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128016" tIns="27432" rIns="128016" bIns="27432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BUSINESS MANDATE</a:t>
            </a:r>
          </a:p>
          <a:p>
            <a:pPr marL="0" indent="0" algn="l">
              <a:buNone/>
            </a:pPr>
            <a:r>
              <a:rPr lang="en-US" sz="1000" i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Move MGCCI from a traditional delivery/support centre toward greater global ownership of platforms, processes and outcomes, while maintaining existing service continuity.</a:t>
            </a:r>
          </a:p>
        </p:txBody>
      </p:sp>
      <p:sp>
        <p:nvSpPr>
          <p:cNvPr id="54" name="Card 54"/>
          <p:cNvSpPr/>
          <p:nvPr/>
        </p:nvSpPr>
        <p:spPr>
          <a:xfrm>
            <a:off x="502920" y="2322576"/>
            <a:ext cx="4572000" cy="1225296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55" name="Label 55"/>
          <p:cNvSpPr txBox="1"/>
          <p:nvPr/>
        </p:nvSpPr>
        <p:spPr>
          <a:xfrm>
            <a:off x="640080" y="2359152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CHARACTERS &amp; PERSPECTIVES</a:t>
            </a:r>
          </a:p>
        </p:txBody>
      </p:sp>
      <p:sp>
        <p:nvSpPr>
          <p:cNvPr id="56" name="Shape 56"/>
          <p:cNvSpPr txBox="1"/>
          <p:nvPr/>
        </p:nvSpPr>
        <p:spPr>
          <a:xfrm>
            <a:off x="640080" y="25420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Ananya Rao</a:t>
            </a:r>
          </a:p>
        </p:txBody>
      </p:sp>
      <p:sp>
        <p:nvSpPr>
          <p:cNvPr id="57" name="Shape 57"/>
          <p:cNvSpPr txBox="1"/>
          <p:nvPr/>
        </p:nvSpPr>
        <p:spPr>
          <a:xfrm>
            <a:off x="1554480" y="2542032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Needs clarity on what “ownership” actually means</a:t>
            </a:r>
          </a:p>
        </p:txBody>
      </p:sp>
      <p:sp>
        <p:nvSpPr>
          <p:cNvPr id="58" name="Shape 58"/>
          <p:cNvSpPr txBox="1"/>
          <p:nvPr/>
        </p:nvSpPr>
        <p:spPr>
          <a:xfrm>
            <a:off x="640080" y="274320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Devika</a:t>
            </a:r>
          </a:p>
        </p:txBody>
      </p:sp>
      <p:sp>
        <p:nvSpPr>
          <p:cNvPr id="59" name="Shape 59"/>
          <p:cNvSpPr txBox="1"/>
          <p:nvPr/>
        </p:nvSpPr>
        <p:spPr>
          <a:xfrm>
            <a:off x="1554480" y="2743200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Ownership as assurance / control</a:t>
            </a:r>
          </a:p>
        </p:txBody>
      </p:sp>
      <p:sp>
        <p:nvSpPr>
          <p:cNvPr id="60" name="Shape 60"/>
          <p:cNvSpPr txBox="1"/>
          <p:nvPr/>
        </p:nvSpPr>
        <p:spPr>
          <a:xfrm>
            <a:off x="640080" y="29443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Arvind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554480" y="2944368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Ownership as discretion / decision authority</a:t>
            </a:r>
          </a:p>
        </p:txBody>
      </p:sp>
      <p:sp>
        <p:nvSpPr>
          <p:cNvPr id="62" name="Shape 62"/>
          <p:cNvSpPr txBox="1"/>
          <p:nvPr/>
        </p:nvSpPr>
        <p:spPr>
          <a:xfrm>
            <a:off x="640080" y="31455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Elena</a:t>
            </a:r>
          </a:p>
        </p:txBody>
      </p:sp>
      <p:sp>
        <p:nvSpPr>
          <p:cNvPr id="63" name="Shape 63"/>
          <p:cNvSpPr txBox="1"/>
          <p:nvPr/>
        </p:nvSpPr>
        <p:spPr>
          <a:xfrm>
            <a:off x="1554480" y="3145536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Ownership as coordination</a:t>
            </a:r>
          </a:p>
        </p:txBody>
      </p:sp>
      <p:sp>
        <p:nvSpPr>
          <p:cNvPr id="64" name="Shape 64"/>
          <p:cNvSpPr txBox="1"/>
          <p:nvPr/>
        </p:nvSpPr>
        <p:spPr>
          <a:xfrm>
            <a:off x="640080" y="334670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Kabir</a:t>
            </a:r>
          </a:p>
        </p:txBody>
      </p:sp>
      <p:sp>
        <p:nvSpPr>
          <p:cNvPr id="65" name="Shape 65"/>
          <p:cNvSpPr txBox="1"/>
          <p:nvPr/>
        </p:nvSpPr>
        <p:spPr>
          <a:xfrm>
            <a:off x="1554480" y="3346704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Faces delivery accountability while key decisions remain distributed</a:t>
            </a:r>
          </a:p>
        </p:txBody>
      </p:sp>
      <p:sp>
        <p:nvSpPr>
          <p:cNvPr id="66" name="Card 66"/>
          <p:cNvSpPr/>
          <p:nvPr/>
        </p:nvSpPr>
        <p:spPr>
          <a:xfrm>
            <a:off x="5212080" y="2322576"/>
            <a:ext cx="3429000" cy="1225296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67" name="Label 67"/>
          <p:cNvSpPr txBox="1"/>
          <p:nvPr/>
        </p:nvSpPr>
        <p:spPr>
          <a:xfrm>
            <a:off x="5349240" y="23591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CONFLICTING CLAIMS</a:t>
            </a:r>
          </a:p>
        </p:txBody>
      </p:sp>
      <p:sp>
        <p:nvSpPr>
          <p:cNvPr id="68" name="Chip 68"/>
          <p:cNvSpPr/>
          <p:nvPr/>
        </p:nvSpPr>
        <p:spPr>
          <a:xfrm>
            <a:off x="5349240" y="2560320"/>
            <a:ext cx="315468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“India owns the outcome”</a:t>
            </a:r>
          </a:p>
        </p:txBody>
      </p:sp>
      <p:sp>
        <p:nvSpPr>
          <p:cNvPr id="69" name="Shape 69"/>
          <p:cNvSpPr txBox="1"/>
          <p:nvPr/>
        </p:nvSpPr>
        <p:spPr>
          <a:xfrm>
            <a:off x="5349240" y="2898648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VS.</a:t>
            </a:r>
          </a:p>
        </p:txBody>
      </p:sp>
      <p:sp>
        <p:nvSpPr>
          <p:cNvPr id="70" name="Chip 70"/>
          <p:cNvSpPr/>
          <p:nvPr/>
        </p:nvSpPr>
        <p:spPr>
          <a:xfrm>
            <a:off x="5349240" y="3090672"/>
            <a:ext cx="315468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“Critical decisions remain elsewhere.”</a:t>
            </a:r>
          </a:p>
        </p:txBody>
      </p:sp>
      <p:sp>
        <p:nvSpPr>
          <p:cNvPr id="71" name="Banner 71"/>
          <p:cNvSpPr/>
          <p:nvPr/>
        </p:nvSpPr>
        <p:spPr>
          <a:xfrm>
            <a:off x="502920" y="3602736"/>
            <a:ext cx="8138160" cy="548640"/>
          </a:xfrm>
          <a:prstGeom prst="roundRect">
            <a:avLst>
              <a:gd name="adj" fmla="val 9524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164592" tIns="27432" rIns="164592" bIns="27432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MY DIAGNOSTIC LENS</a:t>
            </a:r>
          </a:p>
          <a:p>
            <a:pPr marL="0" indent="0" algn="l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Responsibility for outcomes is increasing, but decision authority and accountability are not clearly aligned.</a:t>
            </a:r>
          </a:p>
        </p:txBody>
      </p:sp>
      <p:sp>
        <p:nvSpPr>
          <p:cNvPr id="72" name="Ref 72"/>
          <p:cNvSpPr txBox="1"/>
          <p:nvPr/>
        </p:nvSpPr>
        <p:spPr>
          <a:xfrm>
            <a:off x="502920" y="4187952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472"/>
                </a:solidFill>
                <a:latin typeface="Calibri"/>
                <a:ea typeface="Calibri"/>
                <a:cs typeface="Calibri"/>
              </a:rPr>
              <a:t>My interpretation of the case evidence — not a direct statement from the case.   |   Case evidence: P008, P010, P011–P014, P017–P018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2848" y="274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DQ-1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086600" y="274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4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Sessions + 5 Modules → AS-2 / AS-3 / AS-4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73" name="Card 73"/>
          <p:cNvSpPr/>
          <p:nvPr/>
        </p:nvSpPr>
        <p:spPr>
          <a:xfrm>
            <a:off x="502920" y="1371600"/>
            <a:ext cx="1828800" cy="2633472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74" name="Label 74"/>
          <p:cNvSpPr txBox="1"/>
          <p:nvPr/>
        </p:nvSpPr>
        <p:spPr>
          <a:xfrm>
            <a:off x="630936" y="14447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SESSIONS 1–5</a:t>
            </a:r>
          </a:p>
        </p:txBody>
      </p:sp>
      <p:sp>
        <p:nvSpPr>
          <p:cNvPr id="75" name="Shape 75"/>
          <p:cNvSpPr txBox="1"/>
          <p:nvPr/>
        </p:nvSpPr>
        <p:spPr>
          <a:xfrm>
            <a:off x="630936" y="1682496"/>
            <a:ext cx="1600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Module 1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Understanding the Organisation &amp; HCM Challenge</a:t>
            </a:r>
          </a:p>
        </p:txBody>
      </p:sp>
      <p:sp>
        <p:nvSpPr>
          <p:cNvPr id="76" name="Tag 76"/>
          <p:cNvSpPr/>
          <p:nvPr/>
        </p:nvSpPr>
        <p:spPr>
          <a:xfrm>
            <a:off x="630936" y="3090672"/>
            <a:ext cx="566928" cy="237744"/>
          </a:xfrm>
          <a:prstGeom prst="roundRect">
            <a:avLst>
              <a:gd name="adj" fmla="val 30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DQ-1</a:t>
            </a:r>
          </a:p>
        </p:txBody>
      </p:sp>
      <p:sp>
        <p:nvSpPr>
          <p:cNvPr id="77" name="Shape 77"/>
          <p:cNvSpPr txBox="1"/>
          <p:nvPr/>
        </p:nvSpPr>
        <p:spPr>
          <a:xfrm>
            <a:off x="630936" y="336499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Diagnose the business problem and HCM priorities.</a:t>
            </a:r>
          </a:p>
        </p:txBody>
      </p:sp>
      <p:sp>
        <p:nvSpPr>
          <p:cNvPr id="78" name="Arrow 78"/>
          <p:cNvSpPr/>
          <p:nvPr/>
        </p:nvSpPr>
        <p:spPr>
          <a:xfrm>
            <a:off x="2368296" y="2560320"/>
            <a:ext cx="201168" cy="201168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79" name="Card 79"/>
          <p:cNvSpPr/>
          <p:nvPr/>
        </p:nvSpPr>
        <p:spPr>
          <a:xfrm>
            <a:off x="2606040" y="1371600"/>
            <a:ext cx="1828800" cy="2633472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80" name="Label 80"/>
          <p:cNvSpPr txBox="1"/>
          <p:nvPr/>
        </p:nvSpPr>
        <p:spPr>
          <a:xfrm>
            <a:off x="2734056" y="14447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SESSIONS 6–10</a:t>
            </a:r>
          </a:p>
        </p:txBody>
      </p:sp>
      <p:sp>
        <p:nvSpPr>
          <p:cNvPr id="81" name="Shape 81"/>
          <p:cNvSpPr txBox="1"/>
          <p:nvPr/>
        </p:nvSpPr>
        <p:spPr>
          <a:xfrm>
            <a:off x="2734056" y="1682496"/>
            <a:ext cx="1600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Module 2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Designing Work &amp; Workforce Readiness</a:t>
            </a:r>
          </a:p>
        </p:txBody>
      </p:sp>
      <p:sp>
        <p:nvSpPr>
          <p:cNvPr id="82" name="Tag 82"/>
          <p:cNvSpPr/>
          <p:nvPr/>
        </p:nvSpPr>
        <p:spPr>
          <a:xfrm>
            <a:off x="2734056" y="3090672"/>
            <a:ext cx="566928" cy="237744"/>
          </a:xfrm>
          <a:prstGeom prst="roundRect">
            <a:avLst>
              <a:gd name="adj" fmla="val 30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AS-2</a:t>
            </a:r>
          </a:p>
        </p:txBody>
      </p:sp>
      <p:sp>
        <p:nvSpPr>
          <p:cNvPr id="83" name="Shape 83"/>
          <p:cNvSpPr txBox="1"/>
          <p:nvPr/>
        </p:nvSpPr>
        <p:spPr>
          <a:xfrm>
            <a:off x="2734056" y="336499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Build the work &amp; workforce response.</a:t>
            </a:r>
          </a:p>
        </p:txBody>
      </p:sp>
      <p:sp>
        <p:nvSpPr>
          <p:cNvPr id="84" name="Arrow 84"/>
          <p:cNvSpPr/>
          <p:nvPr/>
        </p:nvSpPr>
        <p:spPr>
          <a:xfrm>
            <a:off x="4471416" y="2560320"/>
            <a:ext cx="201168" cy="201168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85" name="Card 85"/>
          <p:cNvSpPr/>
          <p:nvPr/>
        </p:nvSpPr>
        <p:spPr>
          <a:xfrm>
            <a:off x="4709160" y="1371600"/>
            <a:ext cx="1828800" cy="2633472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86" name="Label 86"/>
          <p:cNvSpPr txBox="1"/>
          <p:nvPr/>
        </p:nvSpPr>
        <p:spPr>
          <a:xfrm>
            <a:off x="4837176" y="14447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SESSIONS 11–15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4837176" y="1682496"/>
            <a:ext cx="1600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Modules 3 + 4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Enabling Capability, Performance &amp; Contribution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+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Sustaining Employment Value &amp; Working Relationships</a:t>
            </a:r>
          </a:p>
        </p:txBody>
      </p:sp>
      <p:sp>
        <p:nvSpPr>
          <p:cNvPr id="88" name="Tag 88"/>
          <p:cNvSpPr/>
          <p:nvPr/>
        </p:nvSpPr>
        <p:spPr>
          <a:xfrm>
            <a:off x="4837176" y="3090672"/>
            <a:ext cx="566928" cy="237744"/>
          </a:xfrm>
          <a:prstGeom prst="roundRect">
            <a:avLst>
              <a:gd name="adj" fmla="val 30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AS-3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4837176" y="336499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Evaluate capability, contribution &amp; employment response.</a:t>
            </a:r>
          </a:p>
        </p:txBody>
      </p:sp>
      <p:sp>
        <p:nvSpPr>
          <p:cNvPr id="90" name="Arrow 90"/>
          <p:cNvSpPr/>
          <p:nvPr/>
        </p:nvSpPr>
        <p:spPr>
          <a:xfrm>
            <a:off x="6574536" y="2560320"/>
            <a:ext cx="201168" cy="201168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91" name="Card 91"/>
          <p:cNvSpPr/>
          <p:nvPr/>
        </p:nvSpPr>
        <p:spPr>
          <a:xfrm>
            <a:off x="6812280" y="1371600"/>
            <a:ext cx="1828800" cy="2633472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92" name="Label 92"/>
          <p:cNvSpPr txBox="1"/>
          <p:nvPr/>
        </p:nvSpPr>
        <p:spPr>
          <a:xfrm>
            <a:off x="6940296" y="1444752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SESSIONS 16–20</a:t>
            </a:r>
          </a:p>
        </p:txBody>
      </p:sp>
      <p:sp>
        <p:nvSpPr>
          <p:cNvPr id="93" name="Shape 93"/>
          <p:cNvSpPr txBox="1"/>
          <p:nvPr/>
        </p:nvSpPr>
        <p:spPr>
          <a:xfrm>
            <a:off x="6940296" y="1682496"/>
            <a:ext cx="1600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Module 5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Integrating &amp; Defending a Responsible HCM Response</a:t>
            </a:r>
          </a:p>
        </p:txBody>
      </p:sp>
      <p:sp>
        <p:nvSpPr>
          <p:cNvPr id="94" name="Tag 94"/>
          <p:cNvSpPr/>
          <p:nvPr/>
        </p:nvSpPr>
        <p:spPr>
          <a:xfrm>
            <a:off x="6940296" y="3090672"/>
            <a:ext cx="566928" cy="237744"/>
          </a:xfrm>
          <a:prstGeom prst="roundRect">
            <a:avLst>
              <a:gd name="adj" fmla="val 30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AS-4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6940296" y="336499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Integrate → recommend → revise → defend.</a:t>
            </a:r>
          </a:p>
        </p:txBody>
      </p:sp>
      <p:sp>
        <p:nvSpPr>
          <p:cNvPr id="96" name="Banner 96"/>
          <p:cNvSpPr/>
          <p:nvPr/>
        </p:nvSpPr>
        <p:spPr>
          <a:xfrm>
            <a:off x="502920" y="4078224"/>
            <a:ext cx="8138160" cy="365760"/>
          </a:xfrm>
          <a:prstGeom prst="roundRect">
            <a:avLst>
              <a:gd name="adj" fmla="val 9524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164592" tIns="27432" rIns="164592" bIns="2743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Diagnose  →  Build  →  Evaluate  →  Integrate &amp; Defend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2848" y="274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DQ-1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086600" y="274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4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AS-2, AS-3 &amp; AS-4: What Will We Investigate?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97" name="Card 97"/>
          <p:cNvSpPr/>
          <p:nvPr/>
        </p:nvSpPr>
        <p:spPr>
          <a:xfrm>
            <a:off x="502920" y="1335024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98" name="Shape 98"/>
          <p:cNvSpPr txBox="1"/>
          <p:nvPr/>
        </p:nvSpPr>
        <p:spPr>
          <a:xfrm>
            <a:off x="621792" y="1371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AS-2</a:t>
            </a:r>
          </a:p>
        </p:txBody>
      </p:sp>
      <p:sp>
        <p:nvSpPr>
          <p:cNvPr id="99" name="Shape 99"/>
          <p:cNvSpPr txBox="1"/>
          <p:nvPr/>
        </p:nvSpPr>
        <p:spPr>
          <a:xfrm>
            <a:off x="1143000" y="13716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WORK &amp; WORKFORCE READINESS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621792" y="1773936"/>
            <a:ext cx="237744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QUESTION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What work and workforce arrangements are required?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CONCEPTS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Roles • sourcing • selection • integration • capability • organisational fit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EVIDENCE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Role requirements • workforce availability • feasibility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OUTPUT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Work &amp; workforce readiness proposal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REVISION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Faculty feedback + mentor guidance + peer review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UNCERTAINTY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Which workforce/role option is most feasible?</a:t>
            </a:r>
          </a:p>
        </p:txBody>
      </p:sp>
      <p:sp>
        <p:nvSpPr>
          <p:cNvPr id="101" name="Card 101"/>
          <p:cNvSpPr/>
          <p:nvPr/>
        </p:nvSpPr>
        <p:spPr>
          <a:xfrm>
            <a:off x="3268980" y="1335024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02" name="Shape 102"/>
          <p:cNvSpPr txBox="1"/>
          <p:nvPr/>
        </p:nvSpPr>
        <p:spPr>
          <a:xfrm>
            <a:off x="3387852" y="1371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AS-3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3909060" y="13716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CAPABILITY, CONTRIBUTION &amp; EMPLOYMENT RESPONSE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387852" y="1773936"/>
            <a:ext cx="237744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QUESTION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What enables effective contribution?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CONCEPTS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Performance • appraisal • training needs • capability • rewards • employment relationships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EVIDENCE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Capability/performance evidence + employee/business considerations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OUTPUT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Individual response + evidence trail + revision record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REVISION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Feedback → reconsideration → revised response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UNCERTAINTY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Capability issue, performance conditions, employment arrangements — or a combination?</a:t>
            </a:r>
          </a:p>
        </p:txBody>
      </p:sp>
      <p:sp>
        <p:nvSpPr>
          <p:cNvPr id="105" name="Card 105"/>
          <p:cNvSpPr/>
          <p:nvPr/>
        </p:nvSpPr>
        <p:spPr>
          <a:xfrm>
            <a:off x="6035040" y="1335024"/>
            <a:ext cx="2606040" cy="310896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06" name="Shape 106"/>
          <p:cNvSpPr txBox="1"/>
          <p:nvPr/>
        </p:nvSpPr>
        <p:spPr>
          <a:xfrm>
            <a:off x="6153912" y="13716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AS-4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6675120" y="13716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INTEGRATED RECOMMENDATION</a:t>
            </a:r>
          </a:p>
        </p:txBody>
      </p:sp>
      <p:sp>
        <p:nvSpPr>
          <p:cNvPr id="108" name="Shape 108"/>
          <p:cNvSpPr txBox="1"/>
          <p:nvPr/>
        </p:nvSpPr>
        <p:spPr>
          <a:xfrm>
            <a:off x="6153912" y="1773936"/>
            <a:ext cx="237744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QUESTION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How should the HCM response be integrated and implemented?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CONCEPTS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Integration • feasibility • consequences • resources • outcomes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EVIDENCE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AS-2 + AS-3 findings + faculty/client/mentor input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OUTPUT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Integrated recommendation + implementation/outcome plan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REVISION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Faculty + client + mentor feedback</a:t>
            </a:r>
          </a:p>
          <a:p>
            <a:pPr marL="0" indent="0" algn="l">
              <a:buNone/>
            </a:pPr>
            <a:r>
              <a:rPr lang="en-US" sz="7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UNCERTAINTY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What can confidently be recommended from the available evidence?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2848" y="274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DQ-1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086600" y="274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4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Product, Capability Checkpoint &amp; Verification Test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09" name="Label 109"/>
          <p:cNvSpPr txBox="1"/>
          <p:nvPr/>
        </p:nvSpPr>
        <p:spPr>
          <a:xfrm>
            <a:off x="502920" y="1335024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WHAT WILL WE PRODUCE?</a:t>
            </a:r>
          </a:p>
        </p:txBody>
      </p:sp>
      <p:sp>
        <p:nvSpPr>
          <p:cNvPr id="110" name="Chip 110"/>
          <p:cNvSpPr/>
          <p:nvPr/>
        </p:nvSpPr>
        <p:spPr>
          <a:xfrm>
            <a:off x="502920" y="1536192"/>
            <a:ext cx="1188720" cy="60350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Business Diagnosis</a:t>
            </a:r>
          </a:p>
        </p:txBody>
      </p:sp>
      <p:sp>
        <p:nvSpPr>
          <p:cNvPr id="111" name="Arrow 111"/>
          <p:cNvSpPr/>
          <p:nvPr/>
        </p:nvSpPr>
        <p:spPr>
          <a:xfrm>
            <a:off x="1709928" y="1764792"/>
            <a:ext cx="164592" cy="146304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12" name="Chip 112"/>
          <p:cNvSpPr/>
          <p:nvPr/>
        </p:nvSpPr>
        <p:spPr>
          <a:xfrm>
            <a:off x="1892808" y="1536192"/>
            <a:ext cx="1188720" cy="60350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Work &amp; Role Requirements</a:t>
            </a:r>
          </a:p>
        </p:txBody>
      </p:sp>
      <p:sp>
        <p:nvSpPr>
          <p:cNvPr id="113" name="Arrow 113"/>
          <p:cNvSpPr/>
          <p:nvPr/>
        </p:nvSpPr>
        <p:spPr>
          <a:xfrm>
            <a:off x="3099816" y="1764792"/>
            <a:ext cx="164592" cy="146304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14" name="Chip 114"/>
          <p:cNvSpPr/>
          <p:nvPr/>
        </p:nvSpPr>
        <p:spPr>
          <a:xfrm>
            <a:off x="3282696" y="1536192"/>
            <a:ext cx="1188720" cy="60350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Workforce Readiness Options</a:t>
            </a:r>
          </a:p>
        </p:txBody>
      </p:sp>
      <p:sp>
        <p:nvSpPr>
          <p:cNvPr id="115" name="Arrow 115"/>
          <p:cNvSpPr/>
          <p:nvPr/>
        </p:nvSpPr>
        <p:spPr>
          <a:xfrm>
            <a:off x="4489704" y="1764792"/>
            <a:ext cx="164592" cy="146304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16" name="Chip 116"/>
          <p:cNvSpPr/>
          <p:nvPr/>
        </p:nvSpPr>
        <p:spPr>
          <a:xfrm>
            <a:off x="4672584" y="1536192"/>
            <a:ext cx="1188720" cy="60350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Capability &amp; Contribution Assessment</a:t>
            </a:r>
          </a:p>
        </p:txBody>
      </p:sp>
      <p:sp>
        <p:nvSpPr>
          <p:cNvPr id="117" name="Arrow 117"/>
          <p:cNvSpPr/>
          <p:nvPr/>
        </p:nvSpPr>
        <p:spPr>
          <a:xfrm>
            <a:off x="5879592" y="1764792"/>
            <a:ext cx="164592" cy="146304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18" name="Chip 118"/>
          <p:cNvSpPr/>
          <p:nvPr/>
        </p:nvSpPr>
        <p:spPr>
          <a:xfrm>
            <a:off x="6062472" y="1536192"/>
            <a:ext cx="1188720" cy="603504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Employment Response</a:t>
            </a:r>
          </a:p>
        </p:txBody>
      </p:sp>
      <p:sp>
        <p:nvSpPr>
          <p:cNvPr id="119" name="Arrow 119"/>
          <p:cNvSpPr/>
          <p:nvPr/>
        </p:nvSpPr>
        <p:spPr>
          <a:xfrm>
            <a:off x="7269480" y="1764792"/>
            <a:ext cx="164592" cy="146304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20" name="Chip 120"/>
          <p:cNvSpPr/>
          <p:nvPr/>
        </p:nvSpPr>
        <p:spPr>
          <a:xfrm>
            <a:off x="7452360" y="1536192"/>
            <a:ext cx="1188720" cy="603504"/>
          </a:xfrm>
          <a:prstGeom prst="roundRect">
            <a:avLst>
              <a:gd name="adj" fmla="val 12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Integrated Recommendation</a:t>
            </a:r>
          </a:p>
        </p:txBody>
      </p:sp>
      <p:sp>
        <p:nvSpPr>
          <p:cNvPr id="121" name="Card 121"/>
          <p:cNvSpPr/>
          <p:nvPr/>
        </p:nvSpPr>
        <p:spPr>
          <a:xfrm>
            <a:off x="502920" y="2267712"/>
            <a:ext cx="3977640" cy="164592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22" name="Label 122"/>
          <p:cNvSpPr txBox="1"/>
          <p:nvPr/>
        </p:nvSpPr>
        <p:spPr>
          <a:xfrm>
            <a:off x="640080" y="232257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CAPABILITY CHECKPOINT</a:t>
            </a:r>
          </a:p>
        </p:txBody>
      </p:sp>
      <p:sp>
        <p:nvSpPr>
          <p:cNvPr id="123" name="Shape 123"/>
          <p:cNvSpPr txBox="1"/>
          <p:nvPr/>
        </p:nvSpPr>
        <p:spPr>
          <a:xfrm>
            <a:off x="640080" y="2542032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“Can we explain and defend why the proposed HCM response fits the business evidence?”</a:t>
            </a:r>
          </a:p>
        </p:txBody>
      </p:sp>
      <p:sp>
        <p:nvSpPr>
          <p:cNvPr id="124" name="Label 124"/>
          <p:cNvSpPr txBox="1"/>
          <p:nvPr/>
        </p:nvSpPr>
        <p:spPr>
          <a:xfrm>
            <a:off x="640080" y="33101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CHECK</a:t>
            </a:r>
          </a:p>
        </p:txBody>
      </p:sp>
      <p:sp>
        <p:nvSpPr>
          <p:cNvPr id="125" name="Chip 125"/>
          <p:cNvSpPr/>
          <p:nvPr/>
        </p:nvSpPr>
        <p:spPr>
          <a:xfrm>
            <a:off x="640080" y="3511296"/>
            <a:ext cx="6766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26" name="Chip 126"/>
          <p:cNvSpPr/>
          <p:nvPr/>
        </p:nvSpPr>
        <p:spPr>
          <a:xfrm>
            <a:off x="1399032" y="3511296"/>
            <a:ext cx="6766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Assumptions</a:t>
            </a:r>
          </a:p>
        </p:txBody>
      </p:sp>
      <p:sp>
        <p:nvSpPr>
          <p:cNvPr id="127" name="Chip 127"/>
          <p:cNvSpPr/>
          <p:nvPr/>
        </p:nvSpPr>
        <p:spPr>
          <a:xfrm>
            <a:off x="2157984" y="3511296"/>
            <a:ext cx="6766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Alternatives</a:t>
            </a:r>
          </a:p>
        </p:txBody>
      </p:sp>
      <p:sp>
        <p:nvSpPr>
          <p:cNvPr id="128" name="Chip 128"/>
          <p:cNvSpPr/>
          <p:nvPr/>
        </p:nvSpPr>
        <p:spPr>
          <a:xfrm>
            <a:off x="2916936" y="3511296"/>
            <a:ext cx="6766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Reasoning</a:t>
            </a:r>
          </a:p>
        </p:txBody>
      </p:sp>
      <p:sp>
        <p:nvSpPr>
          <p:cNvPr id="129" name="Chip 129"/>
          <p:cNvSpPr/>
          <p:nvPr/>
        </p:nvSpPr>
        <p:spPr>
          <a:xfrm>
            <a:off x="3675888" y="3511296"/>
            <a:ext cx="67665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Revision</a:t>
            </a:r>
          </a:p>
        </p:txBody>
      </p:sp>
      <p:sp>
        <p:nvSpPr>
          <p:cNvPr id="130" name="Card 130"/>
          <p:cNvSpPr/>
          <p:nvPr/>
        </p:nvSpPr>
        <p:spPr>
          <a:xfrm>
            <a:off x="4663440" y="2267712"/>
            <a:ext cx="3977640" cy="164592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31" name="Label 131"/>
          <p:cNvSpPr txBox="1"/>
          <p:nvPr/>
        </p:nvSpPr>
        <p:spPr>
          <a:xfrm>
            <a:off x="4800600" y="232257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VERIFICATION TEST</a:t>
            </a:r>
          </a:p>
        </p:txBody>
      </p:sp>
      <p:sp>
        <p:nvSpPr>
          <p:cNvPr id="132" name="Shape 132"/>
          <p:cNvSpPr txBox="1"/>
          <p:nvPr/>
        </p:nvSpPr>
        <p:spPr>
          <a:xfrm>
            <a:off x="4800600" y="2542032"/>
            <a:ext cx="3703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“Can we trace the recommendation back to evidence and show what changed after feedback?”</a:t>
            </a:r>
          </a:p>
        </p:txBody>
      </p:sp>
      <p:sp>
        <p:nvSpPr>
          <p:cNvPr id="133" name="Label 133"/>
          <p:cNvSpPr txBox="1"/>
          <p:nvPr/>
        </p:nvSpPr>
        <p:spPr>
          <a:xfrm>
            <a:off x="4800600" y="33101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134" name="Chip 134"/>
          <p:cNvSpPr/>
          <p:nvPr/>
        </p:nvSpPr>
        <p:spPr>
          <a:xfrm>
            <a:off x="4800600" y="3511296"/>
            <a:ext cx="58521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35" name="Arrow 135"/>
          <p:cNvSpPr/>
          <p:nvPr/>
        </p:nvSpPr>
        <p:spPr>
          <a:xfrm>
            <a:off x="5413248" y="3602736"/>
            <a:ext cx="128016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36" name="Chip 136"/>
          <p:cNvSpPr/>
          <p:nvPr/>
        </p:nvSpPr>
        <p:spPr>
          <a:xfrm>
            <a:off x="5568696" y="3511296"/>
            <a:ext cx="58521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Reasoning</a:t>
            </a:r>
          </a:p>
        </p:txBody>
      </p:sp>
      <p:sp>
        <p:nvSpPr>
          <p:cNvPr id="137" name="Arrow 137"/>
          <p:cNvSpPr/>
          <p:nvPr/>
        </p:nvSpPr>
        <p:spPr>
          <a:xfrm>
            <a:off x="6181344" y="3602736"/>
            <a:ext cx="128016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38" name="Chip 138"/>
          <p:cNvSpPr/>
          <p:nvPr/>
        </p:nvSpPr>
        <p:spPr>
          <a:xfrm>
            <a:off x="6336792" y="3511296"/>
            <a:ext cx="58521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139" name="Arrow 139"/>
          <p:cNvSpPr/>
          <p:nvPr/>
        </p:nvSpPr>
        <p:spPr>
          <a:xfrm>
            <a:off x="6949440" y="3602736"/>
            <a:ext cx="128016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40" name="Chip 140"/>
          <p:cNvSpPr/>
          <p:nvPr/>
        </p:nvSpPr>
        <p:spPr>
          <a:xfrm>
            <a:off x="7104888" y="3511296"/>
            <a:ext cx="58521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Feedback</a:t>
            </a:r>
          </a:p>
        </p:txBody>
      </p:sp>
      <p:sp>
        <p:nvSpPr>
          <p:cNvPr id="141" name="Arrow 141"/>
          <p:cNvSpPr/>
          <p:nvPr/>
        </p:nvSpPr>
        <p:spPr>
          <a:xfrm>
            <a:off x="7717536" y="3602736"/>
            <a:ext cx="128016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42" name="Chip 142"/>
          <p:cNvSpPr/>
          <p:nvPr/>
        </p:nvSpPr>
        <p:spPr>
          <a:xfrm>
            <a:off x="7872984" y="3511296"/>
            <a:ext cx="58521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Revision</a:t>
            </a:r>
          </a:p>
        </p:txBody>
      </p:sp>
      <p:sp>
        <p:nvSpPr>
          <p:cNvPr id="143" name="Banner 143"/>
          <p:cNvSpPr/>
          <p:nvPr/>
        </p:nvSpPr>
        <p:spPr>
          <a:xfrm>
            <a:off x="502920" y="4023360"/>
            <a:ext cx="8138160" cy="411480"/>
          </a:xfrm>
          <a:prstGeom prst="roundRect">
            <a:avLst>
              <a:gd name="adj" fmla="val 9524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164592" tIns="27432" rIns="164592" bIns="27432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If the reasoning chain cannot be explained, the recommendation is not yet sufficiently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74320"/>
            <a:ext cx="105156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12848" y="2743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9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MANAGEMENT   ·   DQ-1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7086600" y="2743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4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1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Documentation, ePortfolio, Mentor &amp; Bounded Guidance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44" name="Card 144"/>
          <p:cNvSpPr/>
          <p:nvPr/>
        </p:nvSpPr>
        <p:spPr>
          <a:xfrm>
            <a:off x="502920" y="1335024"/>
            <a:ext cx="3977640" cy="1316736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45" name="Label 145"/>
          <p:cNvSpPr txBox="1"/>
          <p:nvPr/>
        </p:nvSpPr>
        <p:spPr>
          <a:xfrm>
            <a:off x="640080" y="138988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1. TEAM DOCUMENTATION</a:t>
            </a:r>
          </a:p>
        </p:txBody>
      </p:sp>
      <p:sp>
        <p:nvSpPr>
          <p:cNvPr id="146" name="Shape 146"/>
          <p:cNvSpPr txBox="1"/>
          <p:nvPr/>
        </p:nvSpPr>
        <p:spPr>
          <a:xfrm>
            <a:off x="640080" y="1609344"/>
            <a:ext cx="3703320" cy="1024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Named contributions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Sources &amp; evidence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Decisions &amp; assumptions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Feedback &amp; revisions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AI-use declaration</a:t>
            </a:r>
          </a:p>
        </p:txBody>
      </p:sp>
      <p:sp>
        <p:nvSpPr>
          <p:cNvPr id="147" name="Card 147"/>
          <p:cNvSpPr/>
          <p:nvPr/>
        </p:nvSpPr>
        <p:spPr>
          <a:xfrm>
            <a:off x="4663440" y="1335024"/>
            <a:ext cx="3977640" cy="1316736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48" name="Label 148"/>
          <p:cNvSpPr txBox="1"/>
          <p:nvPr/>
        </p:nvSpPr>
        <p:spPr>
          <a:xfrm>
            <a:off x="4800600" y="138988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2. ePORTFOLIO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4800600" y="1609344"/>
            <a:ext cx="3703320" cy="10241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Stable public URL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Dated checkpoints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Evidence of progression</a:t>
            </a:r>
          </a:p>
          <a:p>
            <a:pPr marL="171450" indent="-171450" algn="l">
              <a:spcAft>
                <a:spcPts val="300"/>
              </a:spcAft>
              <a:buClr>
                <a:srgbClr val="A9740A"/>
              </a:buClr>
              <a:buSzPct val="100000"/>
              <a:buChar char="▪"/>
            </a:pPr>
            <a:r>
              <a:rPr lang="en-US" sz="1150" dirty="0">
                <a:solidFill>
                  <a:srgbClr val="3A4450"/>
                </a:solidFill>
                <a:latin typeface="Calibri"/>
                <a:ea typeface="Calibri"/>
                <a:cs typeface="Calibri"/>
              </a:rPr>
              <a:t>Only authorised / non-confidential content</a:t>
            </a:r>
          </a:p>
        </p:txBody>
      </p:sp>
      <p:sp>
        <p:nvSpPr>
          <p:cNvPr id="150" name="Card 150"/>
          <p:cNvSpPr/>
          <p:nvPr/>
        </p:nvSpPr>
        <p:spPr>
          <a:xfrm>
            <a:off x="502920" y="2724912"/>
            <a:ext cx="8138160" cy="896112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C9D3E2"/>
            </a:solidFill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51" name="Label 151"/>
          <p:cNvSpPr txBox="1"/>
          <p:nvPr/>
        </p:nvSpPr>
        <p:spPr>
          <a:xfrm>
            <a:off x="640080" y="2770632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spc="8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3. CORPORATE MENTOR</a:t>
            </a:r>
          </a:p>
        </p:txBody>
      </p:sp>
      <p:sp>
        <p:nvSpPr>
          <p:cNvPr id="152" name="Chip 152"/>
          <p:cNvSpPr/>
          <p:nvPr/>
        </p:nvSpPr>
        <p:spPr>
          <a:xfrm>
            <a:off x="640080" y="2999232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Faculty Approval</a:t>
            </a:r>
          </a:p>
        </p:txBody>
      </p:sp>
      <p:sp>
        <p:nvSpPr>
          <p:cNvPr id="153" name="Arrow 153"/>
          <p:cNvSpPr/>
          <p:nvPr/>
        </p:nvSpPr>
        <p:spPr>
          <a:xfrm>
            <a:off x="1773936" y="3163824"/>
            <a:ext cx="164592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54" name="Chip 154"/>
          <p:cNvSpPr/>
          <p:nvPr/>
        </p:nvSpPr>
        <p:spPr>
          <a:xfrm>
            <a:off x="1956816" y="2999232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Bounded Question</a:t>
            </a:r>
          </a:p>
        </p:txBody>
      </p:sp>
      <p:sp>
        <p:nvSpPr>
          <p:cNvPr id="155" name="Arrow 155"/>
          <p:cNvSpPr/>
          <p:nvPr/>
        </p:nvSpPr>
        <p:spPr>
          <a:xfrm>
            <a:off x="3090672" y="3163824"/>
            <a:ext cx="164592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56" name="Chip 156"/>
          <p:cNvSpPr/>
          <p:nvPr/>
        </p:nvSpPr>
        <p:spPr>
          <a:xfrm>
            <a:off x="3273552" y="2999232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Mentor Guidance</a:t>
            </a:r>
          </a:p>
        </p:txBody>
      </p:sp>
      <p:sp>
        <p:nvSpPr>
          <p:cNvPr id="157" name="Arrow 157"/>
          <p:cNvSpPr/>
          <p:nvPr/>
        </p:nvSpPr>
        <p:spPr>
          <a:xfrm>
            <a:off x="4407408" y="3163824"/>
            <a:ext cx="164592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58" name="Chip 158"/>
          <p:cNvSpPr/>
          <p:nvPr/>
        </p:nvSpPr>
        <p:spPr>
          <a:xfrm>
            <a:off x="4590288" y="2999232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159" name="Arrow 159"/>
          <p:cNvSpPr/>
          <p:nvPr/>
        </p:nvSpPr>
        <p:spPr>
          <a:xfrm>
            <a:off x="5724144" y="3163824"/>
            <a:ext cx="164592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60" name="Chip 160"/>
          <p:cNvSpPr/>
          <p:nvPr/>
        </p:nvSpPr>
        <p:spPr>
          <a:xfrm>
            <a:off x="5907024" y="2999232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173"/>
                </a:solidFill>
                <a:latin typeface="Calibri"/>
                <a:ea typeface="Calibri"/>
                <a:cs typeface="Calibri"/>
              </a:rPr>
              <a:t>Accept / Adapt / Reject</a:t>
            </a:r>
          </a:p>
        </p:txBody>
      </p:sp>
      <p:sp>
        <p:nvSpPr>
          <p:cNvPr id="161" name="Arrow 161"/>
          <p:cNvSpPr/>
          <p:nvPr/>
        </p:nvSpPr>
        <p:spPr>
          <a:xfrm>
            <a:off x="7040880" y="3163824"/>
            <a:ext cx="164592" cy="128016"/>
          </a:xfrm>
          <a:prstGeom prst="rightArrow">
            <a:avLst/>
          </a:prstGeom>
          <a:solidFill>
            <a:srgbClr val="A9740A"/>
          </a:solidFill>
          <a:ln>
            <a:noFill/>
          </a:ln>
        </p:spPr>
        <p:txBody>
          <a:bodyPr wrap="square" lIns="0" tIns="0" rIns="0" bIns="0" rtlCol="0" anchor="ctr"/>
          <a:lstStyle/>
          <a:p>
            <a:endParaRPr lang="en-US"/>
          </a:p>
        </p:txBody>
      </p:sp>
      <p:sp>
        <p:nvSpPr>
          <p:cNvPr id="162" name="Chip 162"/>
          <p:cNvSpPr/>
          <p:nvPr/>
        </p:nvSpPr>
        <p:spPr>
          <a:xfrm>
            <a:off x="7223760" y="2999232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 Reasoning</a:t>
            </a:r>
          </a:p>
        </p:txBody>
      </p:sp>
      <p:sp>
        <p:nvSpPr>
          <p:cNvPr id="163" name="Banner 163"/>
          <p:cNvSpPr/>
          <p:nvPr/>
        </p:nvSpPr>
        <p:spPr>
          <a:xfrm>
            <a:off x="502920" y="3685032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1E4173"/>
          </a:solidFill>
          <a:ln w="9525">
            <a:solidFill>
              <a:srgbClr val="1E4173"/>
            </a:solidFill>
          </a:ln>
        </p:spPr>
        <p:txBody>
          <a:bodyPr wrap="square" lIns="164592" tIns="27432" rIns="164592" bIns="27432" rtlCol="0" anchor="ctr"/>
          <a:lstStyle/>
          <a:p>
            <a:pPr marL="0" indent="0" algn="ctr">
              <a:buNone/>
            </a:pPr>
            <a:r>
              <a:rPr lang="en-US" sz="850" b="1" spc="60" dirty="0">
                <a:solidFill>
                  <a:srgbClr val="A9740A"/>
                </a:solidFill>
                <a:latin typeface="Calibri"/>
                <a:ea typeface="Calibri"/>
                <a:cs typeface="Calibri"/>
              </a:rPr>
              <a:t>4. BOUNDED GUIDANCE   </a:t>
            </a:r>
            <a:r>
              <a:rPr lang="en-US" sz="11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mentor provides guidance — the team retains responsibility for the judgement.</a:t>
            </a:r>
          </a:p>
        </p:txBody>
      </p:sp>
      <p:sp>
        <p:nvSpPr>
          <p:cNvPr id="164" name="Shape 164"/>
          <p:cNvSpPr txBox="1"/>
          <p:nvPr/>
        </p:nvSpPr>
        <p:spPr>
          <a:xfrm>
            <a:off x="502920" y="4114800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DQ-1 diagnoses</a:t>
            </a:r>
            <a:r>
              <a:rPr lang="en-US" sz="1050" b="1" dirty="0">
                <a:solidFill>
                  <a:srgbClr val="A9740A"/>
                </a:solidFill>
                <a:latin typeface="Arial"/>
                <a:ea typeface="Arial"/>
                <a:cs typeface="Arial"/>
              </a:rPr>
              <a:t>   ➜   </a:t>
            </a:r>
            <a:r>
              <a:rPr lang="en-US" sz="1250" b="1" i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AS-2 builds</a:t>
            </a:r>
            <a:r>
              <a:rPr lang="en-US" sz="1050" b="1" dirty="0">
                <a:solidFill>
                  <a:srgbClr val="A9740A"/>
                </a:solidFill>
                <a:latin typeface="Arial"/>
                <a:ea typeface="Arial"/>
                <a:cs typeface="Arial"/>
              </a:rPr>
              <a:t>   ➜   </a:t>
            </a:r>
            <a:r>
              <a:rPr lang="en-US" sz="1250" b="1" i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AS-3 evaluates</a:t>
            </a:r>
            <a:r>
              <a:rPr lang="en-US" sz="1050" b="1" dirty="0">
                <a:solidFill>
                  <a:srgbClr val="A9740A"/>
                </a:solidFill>
                <a:latin typeface="Arial"/>
                <a:ea typeface="Arial"/>
                <a:cs typeface="Arial"/>
              </a:rPr>
              <a:t>   ➜   </a:t>
            </a:r>
            <a:r>
              <a:rPr lang="en-US" sz="1250" b="1" i="1" dirty="0">
                <a:solidFill>
                  <a:srgbClr val="A9740A"/>
                </a:solidFill>
                <a:latin typeface="Cambria"/>
                <a:ea typeface="Cambria"/>
                <a:cs typeface="Cambria"/>
              </a:rPr>
              <a:t>AS-4 integrates &amp; defends.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On-screen Show (16:9)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FIIB Template — Opening / Content / Thank You</dc:title>
  <dc:subject>PptxGenJS Presentation</dc:subject>
  <dc:creator>FIIB</dc:creator>
  <cp:lastModifiedBy>Poornam Jaiswal</cp:lastModifiedBy>
  <cp:revision>2</cp:revision>
  <dcterms:created xsi:type="dcterms:W3CDTF">2026-08-24T19:12:00Z</dcterms:created>
  <dcterms:modified xsi:type="dcterms:W3CDTF">2026-09-17T14:55:06Z</dcterms:modified>
</cp:coreProperties>
</file>